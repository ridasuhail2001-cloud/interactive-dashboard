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arah Suhail" userId="09723dfaff15fdbc" providerId="LiveId" clId="{8608E13E-C6A4-474C-B2A1-1120D08AEC49}"/>
    <pc:docChg chg="modSld">
      <pc:chgData name="Ansharah Suhail" userId="09723dfaff15fdbc" providerId="LiveId" clId="{8608E13E-C6A4-474C-B2A1-1120D08AEC49}" dt="2026-08-14T12:25:08.174" v="0" actId="20577"/>
      <pc:docMkLst>
        <pc:docMk/>
      </pc:docMkLst>
      <pc:sldChg chg="modSp mod">
        <pc:chgData name="Ansharah Suhail" userId="09723dfaff15fdbc" providerId="LiveId" clId="{8608E13E-C6A4-474C-B2A1-1120D08AEC49}" dt="2026-08-14T12:25:08.174" v="0" actId="20577"/>
        <pc:sldMkLst>
          <pc:docMk/>
          <pc:sldMk cId="1417449507" sldId="256"/>
        </pc:sldMkLst>
        <pc:spChg chg="mod">
          <ac:chgData name="Ansharah Suhail" userId="09723dfaff15fdbc" providerId="LiveId" clId="{8608E13E-C6A4-474C-B2A1-1120D08AEC49}" dt="2026-08-14T12:25:08.174" v="0" actId="20577"/>
          <ac:spMkLst>
            <pc:docMk/>
            <pc:sldMk cId="1417449507" sldId="256"/>
            <ac:spMk id="5" creationId="{B08F5CFF-B7D2-61C2-5C77-F50D12ECAD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62416-A4D2-B5CD-24AA-122E2130D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B1D13-A1F5-8155-2E5C-DCE99F921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32C16-609E-8C55-9204-0B107AF52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A060-3661-4EFA-B85C-D89AC4427FF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8BF56-6FEE-59C3-DC10-A0C42ED1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78ED5-E516-E18D-6673-B08F5505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229D-51A4-4C19-A423-D2586B45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861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E4D6E-DF7B-F0FC-F151-C8E156CA4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45045-50A7-C3CE-7FFD-90EDA9F12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002D1-B555-0713-4D36-3304E980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A060-3661-4EFA-B85C-D89AC4427FF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725CF-A455-C173-7014-743C51516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FCAEF-441D-CDDC-974B-C0306EB8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229D-51A4-4C19-A423-D2586B45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780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FD59-2A17-04D4-55E0-E9B84208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DDC99-79DC-6379-09BE-B49A6786B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C3C30-3935-6897-0850-85B13155D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A060-3661-4EFA-B85C-D89AC4427FF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058CE-0A1A-BE89-594D-F49963527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166E4-9D07-9F3F-C525-5CD6342F8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229D-51A4-4C19-A423-D2586B45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764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C7F9F-ECF4-ED7C-B9CB-DD3A5082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86C82-5C10-F92E-26DF-2F5383684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BD306-9779-6944-6BDC-34A389A11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0CAC8-2155-29A5-F5FA-3C41E3BA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A060-3661-4EFA-B85C-D89AC4427FF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F1B35-1193-5E44-5407-30814DA2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7EAD7-7908-1F66-911C-B241D1AA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229D-51A4-4C19-A423-D2586B45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50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E815-BC27-171B-3062-DA171142A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F6418-B853-7D49-EA39-54CD19A56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8F678-91ED-A9EC-83FE-FB432CA8D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FB2E6-57B2-39D8-E029-4741C0203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EC0DF-641B-6D2F-6DB5-4A0C5560F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BD7EB-9880-A763-47B6-72180AAFD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A060-3661-4EFA-B85C-D89AC4427FF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7603E8-10CD-6FC2-5F92-312C90B6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8F201-378D-3E1E-4CBA-0609A60A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229D-51A4-4C19-A423-D2586B45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23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C629-AD89-473F-0A67-5667AC6FD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03E9AE-7434-6A0B-3360-96D2BF26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A060-3661-4EFA-B85C-D89AC4427FF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D5536-A885-D43C-CC0C-0961C0677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92EA0-0A91-4D10-EA61-6E29038F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229D-51A4-4C19-A423-D2586B45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421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D661E-BB94-27DF-CF16-82600614F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A060-3661-4EFA-B85C-D89AC4427FF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96957-3DF6-5D83-F129-DDD53ABDC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91BA3-5416-D113-9A91-BD6EB9719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229D-51A4-4C19-A423-D2586B45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054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6190-1819-1947-E629-62A7B2E2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57E9D-6178-EC5C-4F24-ADBC63E59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ABDEA-EB9C-F149-BBF1-7BEF14951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3747E-FD66-A425-C7AD-7A79F2591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A060-3661-4EFA-B85C-D89AC4427FF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C9299-E46F-5CC5-FDFD-D04443F4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3F140-808E-DFE4-703B-23CCF1E6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229D-51A4-4C19-A423-D2586B45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20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C69A-6BA3-0ABC-4792-BCD5D50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BE1502-AFD9-20A6-CC62-27CA99B39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B505C-ECE5-8C76-33FD-F028DBB58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D55F2-8AB4-CB13-09C1-956A3B79C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A060-3661-4EFA-B85C-D89AC4427FF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9A546-B15A-E910-41E1-95E088DA9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EEA89-61CA-5273-35CE-654B2627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229D-51A4-4C19-A423-D2586B45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14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DB9CC-6380-8A83-D798-982610A0F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3672B-A7DE-B00E-56E9-D904A5928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8168D-946D-AACF-67EE-8A361D187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A060-3661-4EFA-B85C-D89AC4427FF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12E12-4359-7D0E-51E1-16436D5A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904E5-6459-EAA9-3DA6-8E4BB6B0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229D-51A4-4C19-A423-D2586B45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8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B4055F-817C-0540-FCC3-608411340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56889-D4D9-D59B-C4B3-52E6FAF55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F4E32-0A1C-A73E-ADAA-0FBC961EA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A060-3661-4EFA-B85C-D89AC4427FF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900D5-0606-360F-97B8-EB61A01C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19B26-5D11-BD2D-C19B-F65299F7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229D-51A4-4C19-A423-D2586B45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72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1254F-3D8D-BB3C-65FA-35C803F62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949A9-B875-58FA-2EB2-D2286BCA0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18C88-26D9-AE72-49E3-4960CCB78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CA060-3661-4EFA-B85C-D89AC4427FF6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888E1-C411-3860-DB48-FB80557EB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26489-38CE-C4A6-72BD-EC6540FF5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5229D-51A4-4C19-A423-D2586B456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86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8F5CFF-B7D2-61C2-5C77-F50D12ECAD33}"/>
              </a:ext>
            </a:extLst>
          </p:cNvPr>
          <p:cNvSpPr txBox="1"/>
          <p:nvPr/>
        </p:nvSpPr>
        <p:spPr>
          <a:xfrm>
            <a:off x="244011" y="258901"/>
            <a:ext cx="11703977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000" b="1" dirty="0"/>
              <a:t>Summary</a:t>
            </a:r>
          </a:p>
          <a:p>
            <a:pPr rtl="0">
              <a:buNone/>
            </a:pPr>
            <a:endParaRPr lang="en-IN" sz="2000" dirty="0"/>
          </a:p>
          <a:p>
            <a:pPr rtl="0">
              <a:buNone/>
            </a:pPr>
            <a:r>
              <a:rPr lang="en-IN" dirty="0"/>
              <a:t>Built an interactive </a:t>
            </a:r>
            <a:r>
              <a:rPr lang="en-IN" b="1" dirty="0"/>
              <a:t>Power BI Sales Dashboard</a:t>
            </a:r>
            <a:r>
              <a:rPr lang="en-IN" dirty="0"/>
              <a:t> with two pages — </a:t>
            </a:r>
            <a:r>
              <a:rPr lang="en-IN" b="1" dirty="0"/>
              <a:t>Exec Dashboard</a:t>
            </a:r>
            <a:r>
              <a:rPr lang="en-IN" dirty="0"/>
              <a:t> and </a:t>
            </a:r>
            <a:r>
              <a:rPr lang="en-IN" b="1" dirty="0"/>
              <a:t>Map</a:t>
            </a:r>
            <a:r>
              <a:rPr lang="en-IN" dirty="0"/>
              <a:t> — to give leadership a quick, visual view of sales and profit performance.</a:t>
            </a:r>
          </a:p>
          <a:p>
            <a:pPr rtl="0">
              <a:buNone/>
            </a:pPr>
            <a:endParaRPr lang="en-IN" dirty="0"/>
          </a:p>
          <a:p>
            <a:pPr rtl="0">
              <a:buNone/>
            </a:pPr>
            <a:r>
              <a:rPr lang="en-IN" sz="2000" b="1" dirty="0"/>
              <a:t>Executive Dashboard Page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Total Sales:</a:t>
            </a:r>
            <a:r>
              <a:rPr lang="en-IN" dirty="0"/>
              <a:t> $118.73M | </a:t>
            </a:r>
            <a:r>
              <a:rPr lang="en-IN" b="1" dirty="0"/>
              <a:t>Total Profit:</a:t>
            </a:r>
            <a:r>
              <a:rPr lang="en-IN" dirty="0"/>
              <a:t> $16.89M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Current month sales </a:t>
            </a:r>
            <a:r>
              <a:rPr lang="en-IN" b="1" dirty="0"/>
              <a:t>+23.53%</a:t>
            </a:r>
            <a:r>
              <a:rPr lang="en-IN" dirty="0"/>
              <a:t> above goal, but profit </a:t>
            </a:r>
            <a:r>
              <a:rPr lang="en-IN" b="1" dirty="0"/>
              <a:t>-31.8%</a:t>
            </a:r>
            <a:r>
              <a:rPr lang="en-IN" dirty="0"/>
              <a:t> below goal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Margin dropped to </a:t>
            </a:r>
            <a:r>
              <a:rPr lang="en-IN" b="1" dirty="0"/>
              <a:t>~10%</a:t>
            </a:r>
            <a:r>
              <a:rPr lang="en-IN" dirty="0"/>
              <a:t> this month vs. </a:t>
            </a:r>
            <a:r>
              <a:rPr lang="en-IN" b="1" dirty="0"/>
              <a:t>~14%</a:t>
            </a:r>
            <a:r>
              <a:rPr lang="en-IN" dirty="0"/>
              <a:t> average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Paseo</a:t>
            </a:r>
            <a:r>
              <a:rPr lang="en-IN" dirty="0"/>
              <a:t> is top product (~28% of sales) — heavy reliance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Amarilla &amp; VTT</a:t>
            </a:r>
            <a:r>
              <a:rPr lang="en-IN" dirty="0"/>
              <a:t> = highest margins; </a:t>
            </a:r>
            <a:r>
              <a:rPr lang="en-IN" b="1" dirty="0"/>
              <a:t>Velo &amp; Carretera</a:t>
            </a:r>
            <a:r>
              <a:rPr lang="en-IN" dirty="0"/>
              <a:t> = lowest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65%</a:t>
            </a:r>
            <a:r>
              <a:rPr lang="en-IN" dirty="0"/>
              <a:t> of profit from one segment (Government) — concentration risk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Sales trend shows </a:t>
            </a:r>
            <a:r>
              <a:rPr lang="en-IN" b="1" dirty="0"/>
              <a:t>volatility</a:t>
            </a:r>
            <a:r>
              <a:rPr lang="en-IN" dirty="0"/>
              <a:t>, not steady growth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None/>
            </a:pPr>
            <a:r>
              <a:rPr lang="en-IN" sz="2000" b="1" dirty="0"/>
              <a:t>Map Page</a:t>
            </a:r>
            <a:endParaRPr lang="en-IN" sz="2000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/>
              <a:t>Includes a </a:t>
            </a:r>
            <a:r>
              <a:rPr lang="en-IN" b="1" dirty="0"/>
              <a:t>map visual showing Sales by Country</a:t>
            </a:r>
            <a:r>
              <a:rPr lang="en-IN" dirty="0"/>
              <a:t>, giving a geographic view of where revenue is being generated.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None/>
            </a:pPr>
            <a:r>
              <a:rPr lang="en-IN" sz="2000" b="1" dirty="0"/>
              <a:t>Interactivity &amp; Navigation Features</a:t>
            </a:r>
            <a:endParaRPr lang="en-IN" sz="2000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/>
              <a:t>Used </a:t>
            </a:r>
            <a:r>
              <a:rPr lang="en-IN" b="1" dirty="0"/>
              <a:t>buttons and bookmarks</a:t>
            </a:r>
            <a:r>
              <a:rPr lang="en-IN" dirty="0"/>
              <a:t> to enable smooth </a:t>
            </a:r>
            <a:r>
              <a:rPr lang="en-IN" b="1" dirty="0"/>
              <a:t>page navigation</a:t>
            </a:r>
            <a:r>
              <a:rPr lang="en-IN" dirty="0"/>
              <a:t> between the Executive Dashboard and Map page.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dirty="0"/>
              <a:t>Used </a:t>
            </a:r>
            <a:r>
              <a:rPr lang="en-IN" b="1" dirty="0"/>
              <a:t>bookmarks to toggle (show/hide) the slicer panel</a:t>
            </a:r>
            <a:r>
              <a:rPr lang="en-IN" dirty="0"/>
              <a:t>, allowing users to expand the report view when filters aren't needed and declutter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1417449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3FF58A-84CD-303D-1D12-32B43544FE82}"/>
              </a:ext>
            </a:extLst>
          </p:cNvPr>
          <p:cNvSpPr txBox="1"/>
          <p:nvPr/>
        </p:nvSpPr>
        <p:spPr>
          <a:xfrm>
            <a:off x="410967" y="615413"/>
            <a:ext cx="1116800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000" b="1" dirty="0"/>
              <a:t>Insights:</a:t>
            </a:r>
          </a:p>
          <a:p>
            <a:pPr rtl="0">
              <a:buNone/>
            </a:pPr>
            <a:endParaRPr lang="en-IN" sz="2000" dirty="0"/>
          </a:p>
          <a:p>
            <a:pPr marL="342900" lvl="0" indent="-342900" rtl="0">
              <a:buFont typeface="+mj-lt"/>
              <a:buAutoNum type="arabicPeriod"/>
            </a:pPr>
            <a:r>
              <a:rPr lang="en-IN" sz="2000" b="1" dirty="0"/>
              <a:t>Sales up, profit down</a:t>
            </a:r>
            <a:r>
              <a:rPr lang="en-IN" sz="2000" dirty="0"/>
              <a:t> — Current month sales beat goal by +23.53%, but profit missed goal by -31.8%. Margin dropped to ~10% vs. usual ~14%, so growth is coming at the cost of profitability (likely discounts, cost increases, or a shift toward lower-margin products).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2000" b="1" dirty="0"/>
              <a:t>Over-reliance on </a:t>
            </a:r>
            <a:r>
              <a:rPr lang="en-IN" sz="2000" b="1" dirty="0" err="1"/>
              <a:t>Paseo</a:t>
            </a:r>
            <a:r>
              <a:rPr lang="en-IN" sz="2000" dirty="0"/>
              <a:t> — It's ~28% of total sales. Strong performer, but risky to depend on so heavily.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2000" b="1" dirty="0"/>
              <a:t>Margin varies by product</a:t>
            </a:r>
            <a:r>
              <a:rPr lang="en-IN" sz="2000" dirty="0"/>
              <a:t> — Amarilla &amp; VTT are most profitable; Velo &amp; Carretera are the weakest margins despite good sales volume.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2000" b="1" dirty="0"/>
              <a:t>Profit concentrated in one segment</a:t>
            </a:r>
            <a:r>
              <a:rPr lang="en-IN" sz="2000" dirty="0"/>
              <a:t> — One segment (likely Government) drives ~65% of profit — a concentration risk.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2000" b="1" dirty="0"/>
              <a:t>Few customers dominate sales</a:t>
            </a:r>
            <a:r>
              <a:rPr lang="en-IN" sz="2000" dirty="0"/>
              <a:t> — CUST_ID_004, 040, 075 stand out; losing any could hurt revenue meaningfully.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Japan</a:t>
            </a:r>
            <a:r>
              <a:rPr lang="en-IN" sz="2000" dirty="0"/>
              <a:t> generates the highest profit among countries — a key market worth prioritizing for growth and investment.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2000" b="1" dirty="0"/>
              <a:t>Sales trend is volatile</a:t>
            </a:r>
            <a:r>
              <a:rPr lang="en-IN" sz="2000" dirty="0"/>
              <a:t>, not steadily growing — makes forecasting harder.</a:t>
            </a:r>
          </a:p>
          <a:p>
            <a:pPr rtl="0">
              <a:buNone/>
            </a:pPr>
            <a:r>
              <a:rPr lang="en-IN" sz="2000" b="1" dirty="0"/>
              <a:t>Bottom line:</a:t>
            </a:r>
            <a:r>
              <a:rPr lang="en-IN" sz="2000" dirty="0"/>
              <a:t> Revenue is growing, but margins are shrinking and the business leans heavily on one product, one segment, and a few customers.</a:t>
            </a:r>
          </a:p>
        </p:txBody>
      </p:sp>
    </p:spTree>
    <p:extLst>
      <p:ext uri="{BB962C8B-B14F-4D97-AF65-F5344CB8AC3E}">
        <p14:creationId xmlns:p14="http://schemas.microsoft.com/office/powerpoint/2010/main" val="788440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Ansharah Suhail</dc:creator>
  <cp:lastModifiedBy>Ansharah Suhail</cp:lastModifiedBy>
  <cp:revision>1</cp:revision>
  <dcterms:created xsi:type="dcterms:W3CDTF">2026-08-14T11:44:43Z</dcterms:created>
  <dcterms:modified xsi:type="dcterms:W3CDTF">2026-08-14T12:25:21Z</dcterms:modified>
</cp:coreProperties>
</file>