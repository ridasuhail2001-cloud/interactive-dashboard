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62" d="100"/>
          <a:sy n="62" d="100"/>
        </p:scale>
        <p:origin x="828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62416-A4D2-B5CD-24AA-122E2130D31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CAB1D13-A1F5-8155-2E5C-DCE99F921A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832C16-609E-8C55-9204-0B107AF52C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6CA060-3661-4EFA-B85C-D89AC4427FF6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B8BF56-6FEE-59C3-DC10-A0C42ED14E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B78ED5-E516-E18D-6673-B08F55053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5229D-51A4-4C19-A423-D2586B456D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1686112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EE4D6E-DF7B-F0FC-F151-C8E156CA4D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F45045-50A7-C3CE-7FFD-90EDA9F12B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D002D1-B555-0713-4D36-3304E9804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6CA060-3661-4EFA-B85C-D89AC4427FF6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8725CF-A455-C173-7014-743C51516C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EFCAEF-441D-CDDC-974B-C0306EB8E0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5229D-51A4-4C19-A423-D2586B456D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547802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0AFD59-2A17-04D4-55E0-E9B84208C4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EDDC99-79DC-6379-09BE-B49A6786BD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9C3C30-3935-6897-0850-85B13155D2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6CA060-3661-4EFA-B85C-D89AC4427FF6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0058CE-0A1A-BE89-594D-F49963527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8166E4-9D07-9F3F-C525-5CD6342F8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5229D-51A4-4C19-A423-D2586B456D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3764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1C7F9F-ECF4-ED7C-B9CB-DD3A5082A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686C82-5C10-F92E-26DF-2F538368493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ABD306-9779-6944-6BDC-34A389A119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10CAC8-2155-29A5-F5FA-3C41E3BA7E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6CA060-3661-4EFA-B85C-D89AC4427FF6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07F1B35-1193-5E44-5407-30814DA287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C7EAD7-7908-1F66-911C-B241D1AA89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5229D-51A4-4C19-A423-D2586B456D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535003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9AE815-BC27-171B-3062-DA171142A9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2F6418-B853-7D49-EA39-54CD19A56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2A8F678-91ED-A9EC-83FE-FB432CA8DE2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0FB2E6-57B2-39D8-E029-4741C020303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CBEC0DF-641B-6D2F-6DB5-4A0C5560F2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02BD7EB-9880-A763-47B6-72180AAFD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6CA060-3661-4EFA-B85C-D89AC4427FF6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7603E8-10CD-6FC2-5F92-312C90B643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B88F201-378D-3E1E-4CBA-0609A60AF4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5229D-51A4-4C19-A423-D2586B456D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42380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CC629-AD89-473F-0A67-5667AC6FDA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C03E9AE-7434-6A0B-3360-96D2BF26E4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6CA060-3661-4EFA-B85C-D89AC4427FF6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70D5536-A885-D43C-CC0C-0961C0677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392EA0-0A91-4D10-EA61-6E29038F4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5229D-51A4-4C19-A423-D2586B456D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644212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42D661E-BB94-27DF-CF16-82600614F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6CA060-3661-4EFA-B85C-D89AC4427FF6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3D96957-3DF6-5D83-F129-DDD53ABDC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191BA3-5416-D113-9A91-BD6EB97198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5229D-51A4-4C19-A423-D2586B456D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220544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796190-1819-1947-E629-62A7B2E266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657E9D-6178-EC5C-4F24-ADBC63E59E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78ABDEA-EB9C-F149-BBF1-7BEF14951A4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73747E-FD66-A425-C7AD-7A79F2591F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6CA060-3661-4EFA-B85C-D89AC4427FF6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EC9299-E46F-5CC5-FDFD-D04443F46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63F140-808E-DFE4-703B-23CCF1E6F7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5229D-51A4-4C19-A423-D2586B456D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72062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39C69A-6BA3-0ABC-4792-BCD5D502B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7BE1502-AFD9-20A6-CC62-27CA99B394B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0B505C-ECE5-8C76-33FD-F028DBB585B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6D55F2-8AB4-CB13-09C1-956A3B79C5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6CA060-3661-4EFA-B85C-D89AC4427FF6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29A546-B15A-E910-41E1-95E088DA93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F3EEA89-61CA-5273-35CE-654B26278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5229D-51A4-4C19-A423-D2586B456D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481418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5DB9CC-6380-8A83-D798-982610A0FB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83672B-A7DE-B00E-56E9-D904A5928C2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28168D-946D-AACF-67EE-8A361D187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6CA060-3661-4EFA-B85C-D89AC4427FF6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212E12-4359-7D0E-51E1-16436D5A1F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E6904E5-6459-EAA9-3DA6-8E4BB6B0D5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5229D-51A4-4C19-A423-D2586B456D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11822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3B4055F-817C-0540-FCC3-608411340C4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756889-D4D9-D59B-C4B3-52E6FAF55D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5F4E32-0A1C-A73E-ADAA-0FBC961EAB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6CA060-3661-4EFA-B85C-D89AC4427FF6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900D5-0606-360F-97B8-EB61A01CE7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319B26-5D11-BD2D-C19B-F65299F71A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A5229D-51A4-4C19-A423-D2586B456D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9372398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81254F-3D8D-BB3C-65FA-35C803F628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97949A9-B875-58FA-2EB2-D2286BCA09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218C88-26D9-AE72-49E3-4960CCB787D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6CA060-3661-4EFA-B85C-D89AC4427FF6}" type="datetimeFigureOut">
              <a:rPr lang="en-IN" smtClean="0"/>
              <a:t>14-08-2026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3888E1-C411-3860-DB48-FB80557EB3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126489-38CE-C4A6-72BD-EC6540FF51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A5229D-51A4-4C19-A423-D2586B456D7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73863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B08F5CFF-B7D2-61C2-5C77-F50D12ECAD33}"/>
              </a:ext>
            </a:extLst>
          </p:cNvPr>
          <p:cNvSpPr txBox="1"/>
          <p:nvPr/>
        </p:nvSpPr>
        <p:spPr>
          <a:xfrm>
            <a:off x="244011" y="258901"/>
            <a:ext cx="11703977" cy="63401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IN" sz="2000" b="1" dirty="0"/>
              <a:t>Summary</a:t>
            </a:r>
          </a:p>
          <a:p>
            <a:pPr rtl="0">
              <a:buNone/>
            </a:pPr>
            <a:endParaRPr lang="en-IN" sz="2000" dirty="0"/>
          </a:p>
          <a:p>
            <a:pPr rtl="0">
              <a:buNone/>
            </a:pPr>
            <a:r>
              <a:rPr lang="en-IN" dirty="0"/>
              <a:t>Built an interactive </a:t>
            </a:r>
            <a:r>
              <a:rPr lang="en-IN" b="1" dirty="0"/>
              <a:t>Power BI Sales Dashboard</a:t>
            </a:r>
            <a:r>
              <a:rPr lang="en-IN" dirty="0"/>
              <a:t> with two pages — </a:t>
            </a:r>
            <a:r>
              <a:rPr lang="en-IN" b="1" dirty="0"/>
              <a:t>Exec Dashboard</a:t>
            </a:r>
            <a:r>
              <a:rPr lang="en-IN" dirty="0"/>
              <a:t> and </a:t>
            </a:r>
            <a:r>
              <a:rPr lang="en-IN" b="1" dirty="0"/>
              <a:t>Map</a:t>
            </a:r>
            <a:r>
              <a:rPr lang="en-IN" dirty="0"/>
              <a:t> — to give leadership a quick, visual view of sales and profit performance.</a:t>
            </a:r>
          </a:p>
          <a:p>
            <a:pPr rtl="0">
              <a:buNone/>
            </a:pPr>
            <a:endParaRPr lang="en-IN" dirty="0"/>
          </a:p>
          <a:p>
            <a:pPr rtl="0">
              <a:buNone/>
            </a:pPr>
            <a:r>
              <a:rPr lang="en-IN" sz="2000" b="1" dirty="0"/>
              <a:t>Executive Dashboard Page</a:t>
            </a:r>
            <a:endParaRPr lang="en-IN" sz="20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Total Sales:</a:t>
            </a:r>
            <a:r>
              <a:rPr lang="en-IN" dirty="0"/>
              <a:t> $118.73M | </a:t>
            </a:r>
            <a:r>
              <a:rPr lang="en-IN" b="1" dirty="0"/>
              <a:t>Total Profit:</a:t>
            </a:r>
            <a:r>
              <a:rPr lang="en-IN" dirty="0"/>
              <a:t> $16.89M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Current month sales </a:t>
            </a:r>
            <a:r>
              <a:rPr lang="en-IN" b="1" dirty="0"/>
              <a:t>+23.53%</a:t>
            </a:r>
            <a:r>
              <a:rPr lang="en-IN" dirty="0"/>
              <a:t> above goal, but profit </a:t>
            </a:r>
            <a:r>
              <a:rPr lang="en-IN" b="1" dirty="0"/>
              <a:t>-31.8%</a:t>
            </a:r>
            <a:r>
              <a:rPr lang="en-IN" dirty="0"/>
              <a:t> below goal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Margin dropped to </a:t>
            </a:r>
            <a:r>
              <a:rPr lang="en-IN" b="1" dirty="0"/>
              <a:t>~10%</a:t>
            </a:r>
            <a:r>
              <a:rPr lang="en-IN" dirty="0"/>
              <a:t> this month vs. </a:t>
            </a:r>
            <a:r>
              <a:rPr lang="en-IN" b="1" dirty="0"/>
              <a:t>~14%</a:t>
            </a:r>
            <a:r>
              <a:rPr lang="en-IN" dirty="0"/>
              <a:t> average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 err="1"/>
              <a:t>Paseo</a:t>
            </a:r>
            <a:r>
              <a:rPr lang="en-IN" dirty="0"/>
              <a:t> is top product (~28% of sales) — heavy reliance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Amarilla &amp; VTT</a:t>
            </a:r>
            <a:r>
              <a:rPr lang="en-IN" dirty="0"/>
              <a:t> = highest margins; </a:t>
            </a:r>
            <a:r>
              <a:rPr lang="en-IN" b="1" dirty="0"/>
              <a:t>Velo &amp; Carretera</a:t>
            </a:r>
            <a:r>
              <a:rPr lang="en-IN" dirty="0"/>
              <a:t> = lowest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65%</a:t>
            </a:r>
            <a:r>
              <a:rPr lang="en-IN" dirty="0"/>
              <a:t> of profit from one segment (Government) — concentration risk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Top 3 customers drive majority of sales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dirty="0"/>
              <a:t>Sales trend shows </a:t>
            </a:r>
            <a:r>
              <a:rPr lang="en-IN" b="1" dirty="0"/>
              <a:t>volatility</a:t>
            </a:r>
            <a:r>
              <a:rPr lang="en-IN" dirty="0"/>
              <a:t>, not steady growth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dirty="0"/>
          </a:p>
          <a:p>
            <a:pPr rtl="0">
              <a:buNone/>
            </a:pPr>
            <a:r>
              <a:rPr lang="en-IN" sz="2000" b="1" dirty="0"/>
              <a:t>Map Page</a:t>
            </a:r>
            <a:endParaRPr lang="en-IN" sz="2000" dirty="0"/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IN" dirty="0"/>
              <a:t>Includes a </a:t>
            </a:r>
            <a:r>
              <a:rPr lang="en-IN" b="1" dirty="0"/>
              <a:t>map visual showing Sales by Country</a:t>
            </a:r>
            <a:r>
              <a:rPr lang="en-IN" dirty="0"/>
              <a:t>, giving a geographic view of where revenue is being generated.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endParaRPr lang="en-IN" dirty="0"/>
          </a:p>
          <a:p>
            <a:pPr rtl="0">
              <a:buNone/>
            </a:pPr>
            <a:r>
              <a:rPr lang="en-IN" sz="2000" b="1" dirty="0"/>
              <a:t>Interactivity &amp; Navigation Features</a:t>
            </a:r>
            <a:endParaRPr lang="en-IN" sz="2000" dirty="0"/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IN" dirty="0"/>
              <a:t>Used </a:t>
            </a:r>
            <a:r>
              <a:rPr lang="en-IN" b="1" dirty="0"/>
              <a:t>buttons and bookmarks</a:t>
            </a:r>
            <a:r>
              <a:rPr lang="en-IN" dirty="0"/>
              <a:t> to enable smooth </a:t>
            </a:r>
            <a:r>
              <a:rPr lang="en-IN" b="1" dirty="0"/>
              <a:t>page navigation</a:t>
            </a:r>
            <a:r>
              <a:rPr lang="en-IN" dirty="0"/>
              <a:t> between the Executive Dashboard and Map page.</a:t>
            </a:r>
          </a:p>
          <a:p>
            <a:pPr marL="342900" lvl="0" indent="-342900" rtl="0">
              <a:buFont typeface="Arial" panose="020B0604020202020204" pitchFamily="34" charset="0"/>
              <a:buChar char="•"/>
            </a:pPr>
            <a:r>
              <a:rPr lang="en-IN" dirty="0"/>
              <a:t>Used </a:t>
            </a:r>
            <a:r>
              <a:rPr lang="en-IN" b="1" dirty="0"/>
              <a:t>bookmarks to toggle (show/hide) the slicer panel</a:t>
            </a:r>
            <a:r>
              <a:rPr lang="en-IN" dirty="0"/>
              <a:t>, allowing users to expand the report view when filters aren't needed and declutter the interface.</a:t>
            </a:r>
          </a:p>
        </p:txBody>
      </p:sp>
    </p:spTree>
    <p:extLst>
      <p:ext uri="{BB962C8B-B14F-4D97-AF65-F5344CB8AC3E}">
        <p14:creationId xmlns:p14="http://schemas.microsoft.com/office/powerpoint/2010/main" val="14174495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F3FF58A-84CD-303D-1D12-32B43544FE82}"/>
              </a:ext>
            </a:extLst>
          </p:cNvPr>
          <p:cNvSpPr txBox="1"/>
          <p:nvPr/>
        </p:nvSpPr>
        <p:spPr>
          <a:xfrm>
            <a:off x="410967" y="615413"/>
            <a:ext cx="11168008" cy="53245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IN" sz="2000" b="1" dirty="0"/>
              <a:t>Insights:</a:t>
            </a:r>
          </a:p>
          <a:p>
            <a:pPr rtl="0">
              <a:buNone/>
            </a:pPr>
            <a:endParaRPr lang="en-IN" sz="2000" dirty="0"/>
          </a:p>
          <a:p>
            <a:pPr marL="342900" lvl="0" indent="-342900" rtl="0">
              <a:buFont typeface="+mj-lt"/>
              <a:buAutoNum type="arabicPeriod"/>
            </a:pPr>
            <a:r>
              <a:rPr lang="en-IN" sz="2000" b="1" dirty="0"/>
              <a:t>Sales up, profit down</a:t>
            </a:r>
            <a:r>
              <a:rPr lang="en-IN" sz="2000" dirty="0"/>
              <a:t> — Current month sales beat goal by +23.53%, but profit missed goal by -31.8%. Margin dropped to ~10% vs. usual ~14%, so growth is coming at the cost of profitability (likely discounts, cost increases, or a shift toward lower-margin products).</a:t>
            </a:r>
          </a:p>
          <a:p>
            <a:pPr marL="342900" lvl="0" indent="-342900" rtl="0">
              <a:buFont typeface="+mj-lt"/>
              <a:buAutoNum type="arabicPeriod"/>
            </a:pPr>
            <a:r>
              <a:rPr lang="en-IN" sz="2000" b="1" dirty="0"/>
              <a:t>Over-reliance on </a:t>
            </a:r>
            <a:r>
              <a:rPr lang="en-IN" sz="2000" b="1" dirty="0" err="1"/>
              <a:t>Paseo</a:t>
            </a:r>
            <a:r>
              <a:rPr lang="en-IN" sz="2000" dirty="0"/>
              <a:t> — It's ~28% of total sales. Strong performer, but risky to depend on so heavily.</a:t>
            </a:r>
          </a:p>
          <a:p>
            <a:pPr marL="342900" lvl="0" indent="-342900" rtl="0">
              <a:buFont typeface="+mj-lt"/>
              <a:buAutoNum type="arabicPeriod"/>
            </a:pPr>
            <a:r>
              <a:rPr lang="en-IN" sz="2000" b="1" dirty="0"/>
              <a:t>Margin varies by product</a:t>
            </a:r>
            <a:r>
              <a:rPr lang="en-IN" sz="2000" dirty="0"/>
              <a:t> — Amarilla &amp; VTT are most profitable; Velo &amp; Carretera are the weakest margins despite good sales volume.</a:t>
            </a:r>
          </a:p>
          <a:p>
            <a:pPr marL="342900" lvl="0" indent="-342900" rtl="0">
              <a:buFont typeface="+mj-lt"/>
              <a:buAutoNum type="arabicPeriod"/>
            </a:pPr>
            <a:r>
              <a:rPr lang="en-IN" sz="2000" b="1" dirty="0"/>
              <a:t>Profit concentrated in one segment</a:t>
            </a:r>
            <a:r>
              <a:rPr lang="en-IN" sz="2000" dirty="0"/>
              <a:t> — One segment (likely Government) drives ~65% of profit — a concentration risk.</a:t>
            </a:r>
          </a:p>
          <a:p>
            <a:pPr marL="342900" lvl="0" indent="-342900" rtl="0">
              <a:buFont typeface="+mj-lt"/>
              <a:buAutoNum type="arabicPeriod"/>
            </a:pPr>
            <a:r>
              <a:rPr lang="en-IN" sz="2000" b="1" dirty="0"/>
              <a:t>Few customers dominate sales</a:t>
            </a:r>
            <a:r>
              <a:rPr lang="en-IN" sz="2000" dirty="0"/>
              <a:t> — CUST_ID_004, 040, 075 stand out; losing any could hurt revenue meaningfully.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sz="2000" b="1" dirty="0"/>
              <a:t>Japan</a:t>
            </a:r>
            <a:r>
              <a:rPr lang="en-IN" sz="2000" dirty="0"/>
              <a:t> generates the highest profit among countries — a key market worth prioritizing for growth and investment.</a:t>
            </a:r>
          </a:p>
          <a:p>
            <a:pPr marL="342900" lvl="0" indent="-342900" rtl="0">
              <a:buFont typeface="+mj-lt"/>
              <a:buAutoNum type="arabicPeriod"/>
            </a:pPr>
            <a:r>
              <a:rPr lang="en-IN" sz="2000" b="1" dirty="0"/>
              <a:t>Sales trend is volatile</a:t>
            </a:r>
            <a:r>
              <a:rPr lang="en-IN" sz="2000" dirty="0"/>
              <a:t>, not steadily growing — makes forecasting harder.</a:t>
            </a:r>
          </a:p>
          <a:p>
            <a:pPr rtl="0">
              <a:buNone/>
            </a:pPr>
            <a:r>
              <a:rPr lang="en-IN" sz="2000" b="1" dirty="0"/>
              <a:t>Bottom line:</a:t>
            </a:r>
            <a:r>
              <a:rPr lang="en-IN" sz="2000" dirty="0"/>
              <a:t> Revenue is growing, but margins are shrinking and the business leans heavily on one product, one segment, and a few customers.</a:t>
            </a:r>
          </a:p>
        </p:txBody>
      </p:sp>
    </p:spTree>
    <p:extLst>
      <p:ext uri="{BB962C8B-B14F-4D97-AF65-F5344CB8AC3E}">
        <p14:creationId xmlns:p14="http://schemas.microsoft.com/office/powerpoint/2010/main" val="78844070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413</Words>
  <Application>Microsoft Office PowerPoint</Application>
  <PresentationFormat>Widescreen</PresentationFormat>
  <Paragraphs>30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Ansharah Suhail</dc:creator>
  <cp:lastModifiedBy>Ansharah Suhail</cp:lastModifiedBy>
  <cp:revision>1</cp:revision>
  <dcterms:created xsi:type="dcterms:W3CDTF">2026-08-14T11:44:43Z</dcterms:created>
  <dcterms:modified xsi:type="dcterms:W3CDTF">2026-08-14T11:44:58Z</dcterms:modified>
</cp:coreProperties>
</file>